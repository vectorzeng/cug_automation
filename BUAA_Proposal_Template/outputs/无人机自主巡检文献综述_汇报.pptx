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0" i="0" a:lang="zh-CN">
                <a:solidFill>
                  <a:srgbClr val="000066"/>
                </a:solidFill>
                <a:latin typeface="楷体"/>
                <a:ea typeface="楷体"/>
              </a:rPr>
              <a:t>面向复杂工业场景的
无人机自主巡检关键技术
文献综述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 a:lang="zh-CN">
                <a:solidFill>
                  <a:srgbClr val="333333"/>
                </a:solidFill>
                <a:latin typeface="宋体"/>
                <a:ea typeface="宋体"/>
              </a:rPr>
              <a:t>文献综述汇报</a:t>
            </a:r>
          </a:p>
        </p:txBody>
      </p:sp>
      <p:pic>
        <p:nvPicPr>
          <p:cNvPr id="7" name="Picture 6" descr="fastlio2_a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480560"/>
            <a:ext cx="3657600" cy="22681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2414016" y="173736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2" y="173736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引言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2267712"/>
            <a:ext cx="0" cy="18287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14016" y="2450591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2450591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复杂工业场景与巡检任务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2980944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14016" y="3163824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2" y="3163824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环境感知与多模态融合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694176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14016" y="3877056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3877056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工业设备缺陷与异常检测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4407408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14016" y="4590288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4952" y="4590288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自主巡检规划与多机协同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9192" y="5120640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14016" y="530352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530352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引言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5486400" cy="411480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电力、交通、能源等设施向规模化、复杂化发展，传统人工巡检在可达性、效率与一致性方面受限。</a:t>
            </a:r>
          </a:p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无人机可搭载可见光、红外、激光雷达等传感器，成为工业巡检的重要数据获取平台。</a:t>
            </a:r>
          </a:p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自主巡检不仅是“把相机装上无人机”，而是感知 → 异常认知 → 决策规划的闭环系统。</a:t>
            </a:r>
          </a:p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核心挑战：GNSS 拒止、遮挡/弱纹理、缺陷样本稀缺、任务动态变化、多机协同。</a:t>
            </a:r>
          </a:p>
        </p:txBody>
      </p:sp>
      <p:pic>
        <p:nvPicPr>
          <p:cNvPr id="8" name="Picture 7" descr="fastlio2_a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91640"/>
            <a:ext cx="4937760" cy="3061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研究主线：感知—认知—决策闭环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200400" cy="23774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66"/>
                </a:solidFill>
                <a:latin typeface="黑体"/>
                <a:ea typeface="黑体"/>
              </a:rPr>
              <a:t>感知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环境感知 + 多模态融合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视觉 / 激光 / 惯性 / 红外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输出：观测数据 + 不确定性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23774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66"/>
                </a:solidFill>
                <a:latin typeface="黑体"/>
                <a:ea typeface="黑体"/>
              </a:rPr>
              <a:t>认知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缺陷检测 + 异常检测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监督 / 无监督 / 基础模型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输出：异常位置 + 置信度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00400" cy="237744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66"/>
                </a:solidFill>
                <a:latin typeface="黑体"/>
                <a:ea typeface="黑体"/>
              </a:rPr>
              <a:t>决策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任务规划 + 多机协同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覆盖 / 视点 / 重规划 / 分配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输出：下一观测行为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2948940"/>
            <a:ext cx="365760" cy="228600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680960" y="2948940"/>
            <a:ext cx="365760" cy="228600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9509760" y="4114800"/>
            <a:ext cx="274320" cy="73152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4800600"/>
            <a:ext cx="7132320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2377440" y="4114800"/>
            <a:ext cx="274320" cy="731520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 i="0" a:lang="zh-CN">
                <a:solidFill>
                  <a:srgbClr val="FF0000"/>
                </a:solidFill>
                <a:latin typeface="黑体"/>
                <a:ea typeface="黑体"/>
              </a:rPr>
              <a:t>检测结果驱动 → 生成复查视点/复检任务 → 更新感知与认知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2414016" y="173736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2" y="173736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引言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2267712"/>
            <a:ext cx="0" cy="18287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14016" y="2450591"/>
            <a:ext cx="530352" cy="530352"/>
          </a:xfrm>
          <a:prstGeom prst="ellipse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2450591"/>
            <a:ext cx="5212080" cy="429768"/>
          </a:xfrm>
          <a:prstGeom prst="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 i="0" a:lang="zh-CN">
                <a:solidFill>
                  <a:srgbClr val="00518E"/>
                </a:solidFill>
                <a:latin typeface="宋体"/>
                <a:ea typeface="宋体"/>
              </a:rPr>
              <a:t>  复杂工业场景与巡检任务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2980944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14016" y="3163824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2" y="3163824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环境感知与多模态融合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694176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14016" y="3877056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3877056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工业设备缺陷与异常检测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4407408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14016" y="4590288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4952" y="4590288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自主巡检规划与多机协同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9192" y="5120640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14016" y="530352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530352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总结与展望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复杂工业场景与巡检任务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3474720" cy="210312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大范围开放/半开放设施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输电线路、桥梁、风电、光伏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覆盖与目标搜索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观测距离、视场、分辨率权衡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3474720" cy="2103120"/>
          </a:xfrm>
          <a:prstGeom prst="roundRect">
            <a:avLst/>
          </a:prstGeom>
          <a:solidFill>
            <a:srgbClr val="E6FAF0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受限或封闭工业空间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隧道、压力钢管、管廊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GNSS 不可用、狭长空间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近距离稳定运动与安全距离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554480"/>
            <a:ext cx="3474720" cy="2103120"/>
          </a:xfrm>
          <a:prstGeom prst="roundRect">
            <a:avLst/>
          </a:prstGeom>
          <a:solidFill>
            <a:srgbClr val="FAF0E6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感知退化环境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低照度、强反光、粉尘、烟雾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重复纹理、遮挡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• 需多模态冗余维持连续感知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 a:lang="zh-CN">
                <a:solidFill>
                  <a:srgbClr val="000066"/>
                </a:solidFill>
                <a:latin typeface="黑体"/>
                <a:ea typeface="黑体"/>
              </a:rPr>
              <a:t>巡检任务三层次：环境/平台感知  →  巡检对象感知  →  状态信息获取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环境与平台感知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位姿估计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障碍物感知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可通行空间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48056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巡检对象感知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设备搜索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部件识别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目标定位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448056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状态信息获取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可见光 / 红外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三维几何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历史信息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97680" y="5280659"/>
            <a:ext cx="365759" cy="228600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138160" y="5280659"/>
            <a:ext cx="365760" cy="228600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2414016" y="173736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2" y="173736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引言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2267712"/>
            <a:ext cx="0" cy="18287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14016" y="2450591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2450591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复杂工业场景与巡检任务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2980944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14016" y="3163824"/>
            <a:ext cx="530352" cy="530352"/>
          </a:xfrm>
          <a:prstGeom prst="ellipse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2" y="3163824"/>
            <a:ext cx="5212080" cy="429768"/>
          </a:xfrm>
          <a:prstGeom prst="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 i="0" a:lang="zh-CN">
                <a:solidFill>
                  <a:srgbClr val="00518E"/>
                </a:solidFill>
                <a:latin typeface="宋体"/>
                <a:ea typeface="宋体"/>
              </a:rPr>
              <a:t>  环境感知与多模态融合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694176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14016" y="3877056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3877056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工业设备缺陷与异常检测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4407408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14016" y="4590288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4952" y="4590288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自主巡检规划与多机协同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9192" y="5120640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14016" y="530352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530352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总结与展望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工业巡检环境感知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486400" cy="713232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1. GNSS 辅助导航：开阔环境全局位置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5486400" cy="713232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2. 视觉 SLAM：ORB-SLAM / VINS 系列，依赖纹理与光照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5486400" cy="713232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3. 激光-惯性里程计：LOAM / FAST-LIO2，几何稳定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5486400" cy="713232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4. 多传感器紧耦合：LVI-SAM / 2025 融合 SLAM 综述，模态互补</a:t>
            </a:r>
          </a:p>
        </p:txBody>
      </p:sp>
      <p:pic>
        <p:nvPicPr>
          <p:cNvPr id="11" name="Picture 10" descr="fastlio2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4846320" cy="12082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多模态信息融合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9</a:t>
            </a:r>
          </a:p>
        </p:txBody>
      </p:sp>
      <p:sp>
        <p:nvSpPr>
          <p:cNvPr id="7" name="Trapezoid 6"/>
          <p:cNvSpPr/>
          <p:nvPr/>
        </p:nvSpPr>
        <p:spPr>
          <a:xfrm>
            <a:off x="3429000" y="1645920"/>
            <a:ext cx="4572000" cy="1005840"/>
          </a:xfrm>
          <a:prstGeom prst="trapezoid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数据级融合</a:t>
            </a:r>
          </a:p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原始测量直接融合
同步/标定要求高</a:t>
            </a:r>
          </a:p>
        </p:txBody>
      </p:sp>
      <p:sp>
        <p:nvSpPr>
          <p:cNvPr id="8" name="Trapezoid 7"/>
          <p:cNvSpPr/>
          <p:nvPr/>
        </p:nvSpPr>
        <p:spPr>
          <a:xfrm>
            <a:off x="2286000" y="2880360"/>
            <a:ext cx="6858000" cy="1005840"/>
          </a:xfrm>
          <a:prstGeom prst="trapezoid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特征级融合</a:t>
            </a:r>
          </a:p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各模态特征联合表达/状态估计</a:t>
            </a:r>
          </a:p>
        </p:txBody>
      </p:sp>
      <p:sp>
        <p:nvSpPr>
          <p:cNvPr id="9" name="Trapezoid 8"/>
          <p:cNvSpPr/>
          <p:nvPr/>
        </p:nvSpPr>
        <p:spPr>
          <a:xfrm>
            <a:off x="1143000" y="4114800"/>
            <a:ext cx="9144000" cy="1005840"/>
          </a:xfrm>
          <a:prstGeom prst="trapezoid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决策级融合</a:t>
            </a:r>
          </a:p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各模态结果组合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 i="0" a:lang="zh-CN">
                <a:solidFill>
                  <a:srgbClr val="FF0000"/>
                </a:solidFill>
                <a:latin typeface="黑体"/>
                <a:ea typeface="黑体"/>
              </a:rPr>
              <a:t>工程架构：松耦合（分别估计再融合） vs. 紧耦合（统一滤波/优化/因子图）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2414016" y="173736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2" y="173736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引言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2267712"/>
            <a:ext cx="0" cy="18287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14016" y="2450591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2450591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复杂工业场景与巡检任务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2980944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14016" y="3163824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2" y="3163824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环境感知与多模态融合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694176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14016" y="3877056"/>
            <a:ext cx="530352" cy="530352"/>
          </a:xfrm>
          <a:prstGeom prst="ellipse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3877056"/>
            <a:ext cx="5212080" cy="429768"/>
          </a:xfrm>
          <a:prstGeom prst="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 i="0" a:lang="zh-CN">
                <a:solidFill>
                  <a:srgbClr val="00518E"/>
                </a:solidFill>
                <a:latin typeface="宋体"/>
                <a:ea typeface="宋体"/>
              </a:rPr>
              <a:t>  工业设备缺陷与异常检测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4407408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14016" y="4590288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4952" y="4590288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自主巡检规划与多机协同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9192" y="5120640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14016" y="530352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530352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总结与展望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工业缺陷检测：监督式方法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943600" cy="438912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目标检测：Faster R-CNN、YOLO 系列、SSD，兼顾精度与实时性。</a:t>
            </a:r>
          </a:p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多尺度与类别不平衡：Focal Loss、特征金字塔，应对裂纹/小目标。</a:t>
            </a:r>
          </a:p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Transformer 检测：DETR、Deformable DETR、Swin Transformer，引入全局关系。</a:t>
            </a:r>
          </a:p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轻量化部署：MobileNet、EfficientNet，平衡机载算力与续航。</a:t>
            </a:r>
          </a:p>
          <a:p>
            <a:pPr>
              <a:spcAft>
                <a:spcPts val="600"/>
              </a:spcAft>
            </a:pPr>
            <a:r>
              <a:rPr sz="1800" b="0" i="0" a:lang="zh-CN">
                <a:solidFill>
                  <a:srgbClr val="333333"/>
                </a:solidFill>
                <a:latin typeface="宋体"/>
                <a:ea typeface="宋体"/>
              </a:rPr>
              <a:t>局限：依赖大量缺陷标注，难以适应新设备、新缺陷、视角变化。</a:t>
            </a:r>
          </a:p>
        </p:txBody>
      </p:sp>
      <p:pic>
        <p:nvPicPr>
          <p:cNvPr id="8" name="Picture 7" descr="fasterrcnn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54480"/>
            <a:ext cx="4572000" cy="4622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小样本与无监督异常检测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669280" cy="457200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重建模型：VAE、GAN — 利用重建误差判断异常。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单类特征建模：Deep SVDD、PatchCore、PaDiM — 预训练特征 + 正常样本记忆库。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知识蒸馏/归一化流：RD、FastFlow、EfficientAD — 降低推理成本。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自监督/合成异常：CutPaste、DRAEM — 仅使用正常样本构造训练信号。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基础模型：CLIP / WinCLIP — 零样本/少样本异常识别。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关键难点：公开数据集与真实巡检条件存在差距，正常分布本身会随工况变化。</a:t>
            </a:r>
          </a:p>
        </p:txBody>
      </p:sp>
      <p:pic>
        <p:nvPicPr>
          <p:cNvPr id="8" name="Picture 7" descr="patchcor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93776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多模态异常认知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3474720" cy="201168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可见光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裂纹、腐蚀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表面剥落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00200"/>
            <a:ext cx="3474720" cy="2011680"/>
          </a:xfrm>
          <a:prstGeom prst="roundRect">
            <a:avLst/>
          </a:prstGeom>
          <a:solidFill>
            <a:srgbClr val="FFE6E6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热红外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光伏热斑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电气设备过热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00200"/>
            <a:ext cx="3474720" cy="201168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spcAft>
                <a:spcPts val="400"/>
              </a:spcAft>
            </a:pPr>
            <a:r>
              <a:rPr sz="1800" b="0" i="0" a:lang="zh-CN">
                <a:solidFill>
                  <a:srgbClr val="0000FF"/>
                </a:solidFill>
                <a:latin typeface="黑体"/>
                <a:ea typeface="黑体"/>
              </a:rPr>
              <a:t>三维几何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凹陷、变形</a:t>
            </a:r>
          </a:p>
          <a:p>
            <a:pPr>
              <a:spcAft>
                <a:spcPts val="200"/>
              </a:spcAft>
            </a:pPr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缺失、装配偏差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 i="0" a:lang="zh-CN">
                <a:solidFill>
                  <a:srgbClr val="FF0000"/>
                </a:solidFill>
                <a:latin typeface="黑体"/>
                <a:ea typeface="黑体"/>
              </a:rPr>
              <a:t>多模态融合不是简单拼接，而是根据缺陷机理选择能够有效降低状态不确定性的信息。</a:t>
            </a:r>
          </a:p>
        </p:txBody>
      </p:sp>
      <p:pic>
        <p:nvPicPr>
          <p:cNvPr id="11" name="Picture 10" descr="draem_qualit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480560"/>
            <a:ext cx="4114800" cy="22389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2414016" y="173736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2" y="173736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引言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2267712"/>
            <a:ext cx="0" cy="18287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14016" y="2450591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2450591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复杂工业场景与巡检任务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2980944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14016" y="3163824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2" y="3163824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环境感知与多模态融合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694176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14016" y="3877056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3877056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工业设备缺陷与异常检测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4407408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14016" y="4590288"/>
            <a:ext cx="530352" cy="530352"/>
          </a:xfrm>
          <a:prstGeom prst="ellipse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4952" y="4590288"/>
            <a:ext cx="5212080" cy="429768"/>
          </a:xfrm>
          <a:prstGeom prst="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 i="0" a:lang="zh-CN">
                <a:solidFill>
                  <a:srgbClr val="00518E"/>
                </a:solidFill>
                <a:latin typeface="宋体"/>
                <a:ea typeface="宋体"/>
              </a:rPr>
              <a:t>  自主巡检规划与多机协同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9192" y="5120640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14016" y="530352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530352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总结与展望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自主巡检任务规划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760720" cy="658368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1. 传统路径规划：点到点可行运动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2258568"/>
            <a:ext cx="640080" cy="210312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5760720" cy="658368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2. 覆盖路径规划：区域覆盖、路径长度、能耗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3127248"/>
            <a:ext cx="640080" cy="210312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5760720" cy="658368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3. 面向目标的视点规划：相机视场、观测距离、机动性约束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3995928"/>
            <a:ext cx="640080" cy="210312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206240"/>
            <a:ext cx="5760720" cy="658368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4. 下一最佳视点 NBV：未知区域/重建误差/信息增益驱动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0400" y="4864607"/>
            <a:ext cx="640080" cy="210312"/>
          </a:xfrm>
          <a:prstGeom prst="rightArrow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074920"/>
            <a:ext cx="5760720" cy="658368"/>
          </a:xfrm>
          <a:prstGeom prst="round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 a:lang="zh-CN">
                <a:solidFill>
                  <a:srgbClr val="333333"/>
                </a:solidFill>
                <a:latin typeface="宋体"/>
                <a:ea typeface="宋体"/>
              </a:rPr>
              <a:t>5. 动态路径重规划：滚动时域、实时避障、感知-决策闭环</a:t>
            </a:r>
          </a:p>
        </p:txBody>
      </p:sp>
      <p:pic>
        <p:nvPicPr>
          <p:cNvPr id="16" name="Picture 15" descr="rrtstar_1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00200"/>
            <a:ext cx="4846320" cy="43354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多无人机协同决策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486400" cy="438912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集中式任务分配：整数规划/组合优化，全局较优但规模受限。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分布式协商：CBBA 拍卖机制，无需中心节点，适合动态任务。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异构资源匹配：续航、载荷、传感器差异决定平台-任务适配。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通信约束：金属结构遮挡、数据带宽限制，需权衡共享信息量。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任务-轨迹联合优化：输电线路风场影响、风电机组 STL 约束。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动态任务生成：异常复查任务在线产生，需实时重分配。</a:t>
            </a:r>
          </a:p>
        </p:txBody>
      </p:sp>
      <p:pic>
        <p:nvPicPr>
          <p:cNvPr id="8" name="Picture 7" descr="swarm_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0"/>
            <a:ext cx="5029200" cy="34896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17</a:t>
            </a:r>
          </a:p>
        </p:txBody>
      </p:sp>
      <p:sp>
        <p:nvSpPr>
          <p:cNvPr id="7" name="Oval 6"/>
          <p:cNvSpPr/>
          <p:nvPr/>
        </p:nvSpPr>
        <p:spPr>
          <a:xfrm>
            <a:off x="2414016" y="1737360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2" y="1737360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引言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2267712"/>
            <a:ext cx="0" cy="182879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14016" y="2450591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2450591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复杂工业场景与巡检任务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2980944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14016" y="3163824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2" y="3163824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环境感知与多模态融合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694176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414016" y="3877056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3877056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工业设备缺陷与异常检测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4407408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14016" y="4590288"/>
            <a:ext cx="530352" cy="530352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4952" y="4590288"/>
            <a:ext cx="5212080" cy="429768"/>
          </a:xfrm>
          <a:prstGeom prst="rect">
            <a:avLst/>
          </a:prstGeom>
          <a:solidFill>
            <a:srgbClr val="FFFFFF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 i="0" a:lang="zh-CN">
                <a:solidFill>
                  <a:srgbClr val="00518E"/>
                </a:solidFill>
                <a:latin typeface="宋体"/>
                <a:ea typeface="宋体"/>
              </a:rPr>
              <a:t>  自主巡检规划与多机协同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9192" y="5120640"/>
            <a:ext cx="0" cy="18288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14016" y="5303520"/>
            <a:ext cx="530352" cy="530352"/>
          </a:xfrm>
          <a:prstGeom prst="ellipse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a:lang="zh-CN">
                <a:solidFill>
                  <a:srgbClr val="FFFFFF"/>
                </a:solidFill>
                <a:latin typeface="黑体"/>
                <a:ea typeface="黑体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5303520"/>
            <a:ext cx="5212080" cy="429768"/>
          </a:xfrm>
          <a:prstGeom prst="rect">
            <a:avLst/>
          </a:prstGeom>
          <a:solidFill>
            <a:srgbClr val="E6F0FA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 i="0" a:lang="zh-CN">
                <a:solidFill>
                  <a:srgbClr val="00518E"/>
                </a:solidFill>
                <a:latin typeface="宋体"/>
                <a:ea typeface="宋体"/>
              </a:rPr>
              <a:t>  总结与展望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585216"/>
            <a:ext cx="960120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0" i="0" a:lang="zh-CN">
                <a:solidFill>
                  <a:srgbClr val="000066"/>
                </a:solidFill>
                <a:latin typeface="楷体"/>
                <a:ea typeface="楷体"/>
              </a:rPr>
              <a:t>总结与展望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1271016"/>
            <a:ext cx="4416552" cy="0"/>
          </a:xfrm>
          <a:prstGeom prst="line">
            <a:avLst/>
          </a:prstGeom>
          <a:ln w="25400">
            <a:solidFill>
              <a:srgbClr val="00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303520" cy="475488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a:lang="zh-CN">
                <a:solidFill>
                  <a:srgbClr val="FF0000"/>
                </a:solidFill>
                <a:latin typeface="黑体"/>
                <a:ea typeface="黑体"/>
              </a:rPr>
              <a:t>现有研究存在的主要问题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感知可靠性缺少面向任务的不确定性描述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异常检测结果未充分转化为巡检行为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规划仍多依赖预先确定的任务集合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多机协同对感知结果利用不足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真实工业场景系统级验证仍不足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03520" cy="475488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a:lang="zh-CN">
                <a:solidFill>
                  <a:srgbClr val="0000FF"/>
                </a:solidFill>
                <a:latin typeface="黑体"/>
                <a:ea typeface="黑体"/>
              </a:rPr>
              <a:t>下一步研究方向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任务驱动的多模态信息选择与融合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异常驱动的主动复查闭环机制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信息价值驱动的动态巡检规划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动态任务生成的多无人机协同</a:t>
            </a:r>
          </a:p>
          <a:p>
            <a:pPr>
              <a:spcAft>
                <a:spcPts val="600"/>
              </a:spcAft>
            </a:pPr>
            <a:r>
              <a:rPr sz="1700" b="0" i="0" a:lang="zh-CN">
                <a:solidFill>
                  <a:srgbClr val="333333"/>
                </a:solidFill>
                <a:latin typeface="宋体"/>
                <a:ea typeface="宋体"/>
              </a:rPr>
              <a:t>真实环境下的系统级验证与统一评价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8288"/>
            <a:ext cx="3639312" cy="420624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b72186e31_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8288"/>
            <a:ext cx="3639312" cy="397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" y="6318504"/>
            <a:ext cx="7863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 a:lang="zh-CN">
                <a:solidFill>
                  <a:srgbClr val="333333"/>
                </a:solidFill>
                <a:latin typeface="宋体"/>
                <a:ea typeface="宋体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0"/>
            <a:ext cx="7315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5400" b="1" i="0" a:lang="zh-CN">
                <a:solidFill>
                  <a:srgbClr val="000066"/>
                </a:solidFill>
                <a:latin typeface="黑体"/>
                <a:ea typeface="黑体"/>
              </a:rPr>
              <a:t>谢谢！
请各位老师批评指正！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